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HITHA POTLURU" userId="4c21fd408c7e4237" providerId="LiveId" clId="{31CCEF83-F279-4764-AA74-483BFD8080A8}"/>
    <pc:docChg chg="modSld">
      <pc:chgData name="SREEHITHA POTLURU" userId="4c21fd408c7e4237" providerId="LiveId" clId="{31CCEF83-F279-4764-AA74-483BFD8080A8}" dt="2026-08-20T03:08:46.400" v="0" actId="255"/>
      <pc:docMkLst>
        <pc:docMk/>
      </pc:docMkLst>
      <pc:sldChg chg="modSp mod">
        <pc:chgData name="SREEHITHA POTLURU" userId="4c21fd408c7e4237" providerId="LiveId" clId="{31CCEF83-F279-4764-AA74-483BFD8080A8}" dt="2026-08-20T03:08:46.400" v="0" actId="255"/>
        <pc:sldMkLst>
          <pc:docMk/>
          <pc:sldMk cId="3917782940" sldId="903"/>
        </pc:sldMkLst>
        <pc:spChg chg="mod">
          <ac:chgData name="SREEHITHA POTLURU" userId="4c21fd408c7e4237" providerId="LiveId" clId="{31CCEF83-F279-4764-AA74-483BFD8080A8}" dt="2026-08-20T03:08:46.400" v="0" actId="255"/>
          <ac:spMkLst>
            <pc:docMk/>
            <pc:sldMk cId="3917782940" sldId="903"/>
            <ac:spMk id="4" creationId="{27DF7A47-0F17-B010-0AFD-DCBF29E6039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903456348"/>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solidFill>
                            <a:schemeClr val="tx1"/>
                          </a:solidFill>
                          <a:latin typeface="Times New Roman" panose="02020603050405020304" pitchFamily="18" charset="0"/>
                          <a:cs typeface="Times New Roman" panose="02020603050405020304" pitchFamily="18" charset="0"/>
                        </a:rPr>
                        <a:t>A.Lahari</a:t>
                      </a:r>
                      <a:r>
                        <a:rPr lang="en-IN" sz="1600" b="1" dirty="0">
                          <a:solidFill>
                            <a:schemeClr val="tx1"/>
                          </a:solidFill>
                          <a:latin typeface="Times New Roman" panose="02020603050405020304" pitchFamily="18" charset="0"/>
                          <a:cs typeface="Times New Roman" panose="02020603050405020304" pitchFamily="18" charset="0"/>
                        </a:rPr>
                        <a:t> – 2420030055</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solidFill>
                            <a:schemeClr val="tx1"/>
                          </a:solidFill>
                          <a:latin typeface="Times New Roman" panose="02020603050405020304" pitchFamily="18" charset="0"/>
                          <a:cs typeface="Times New Roman" panose="02020603050405020304" pitchFamily="18" charset="0"/>
                        </a:rPr>
                        <a:t>P.Priyanka</a:t>
                      </a:r>
                      <a:r>
                        <a:rPr lang="en-IN" sz="1600" b="1" dirty="0">
                          <a:solidFill>
                            <a:schemeClr val="tx1"/>
                          </a:solidFill>
                          <a:latin typeface="Times New Roman" panose="02020603050405020304" pitchFamily="18" charset="0"/>
                          <a:cs typeface="Times New Roman" panose="02020603050405020304" pitchFamily="18" charset="0"/>
                        </a:rPr>
                        <a:t> – 2420030132</a:t>
                      </a:r>
                      <a:br>
                        <a:rPr lang="en-IN" sz="1600" b="1" dirty="0">
                          <a:solidFill>
                            <a:schemeClr val="tx1"/>
                          </a:solidFill>
                          <a:latin typeface="Times New Roman" panose="02020603050405020304" pitchFamily="18" charset="0"/>
                          <a:cs typeface="Times New Roman" panose="02020603050405020304" pitchFamily="18" charset="0"/>
                        </a:rPr>
                      </a:br>
                      <a:r>
                        <a:rPr lang="en-IN" sz="1600" b="1" dirty="0">
                          <a:solidFill>
                            <a:schemeClr val="tx1"/>
                          </a:solidFill>
                          <a:latin typeface="Times New Roman" panose="02020603050405020304" pitchFamily="18" charset="0"/>
                          <a:cs typeface="Times New Roman" panose="02020603050405020304" pitchFamily="18" charset="0"/>
                        </a:rPr>
                        <a:t>P.Sreehitha-2420030410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781944450"/>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Neelima Gogineni</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385367" y="892691"/>
            <a:ext cx="10715625" cy="523220"/>
          </a:xfrm>
          <a:prstGeom prst="rect">
            <a:avLst/>
          </a:prstGeom>
          <a:noFill/>
        </p:spPr>
        <p:txBody>
          <a:bodyPr wrap="square">
            <a:spAutoFit/>
          </a:bodyPr>
          <a:lstStyle/>
          <a:p>
            <a:pPr lvl="0" algn="ctr">
              <a:defRPr/>
            </a:pPr>
            <a:r>
              <a:rPr lang="en-US" sz="2800" b="1">
                <a:solidFill>
                  <a:schemeClr val="bg1"/>
                </a:solidFill>
                <a:latin typeface="Times New Roman" panose="02020603050405020304" pitchFamily="18" charset="0"/>
                <a:cs typeface="Times New Roman" panose="02020603050405020304" pitchFamily="18" charset="0"/>
              </a:rPr>
              <a:t>AI-Based Phishing Detection &amp; Response Agent</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A122CEAE-3D8A-18B6-B671-F74373D4F65E}"/>
              </a:ext>
            </a:extLst>
          </p:cNvPr>
          <p:cNvSpPr txBox="1"/>
          <p:nvPr/>
        </p:nvSpPr>
        <p:spPr>
          <a:xfrm>
            <a:off x="1809134" y="2277296"/>
            <a:ext cx="8278763" cy="2862322"/>
          </a:xfrm>
          <a:prstGeom prst="rect">
            <a:avLst/>
          </a:prstGeom>
          <a:noFill/>
        </p:spPr>
        <p:txBody>
          <a:bodyPr wrap="square">
            <a:spAutoFit/>
          </a:bodyPr>
          <a:lstStyle/>
          <a:p>
            <a:pPr algn="just"/>
            <a:r>
              <a:rPr lang="en-IN" dirty="0"/>
              <a:t>Existing phishing detection systems mainly rely on predefined rules, blacklists, and manually engineered features. These approaches may fail to detect newly generated or evolving phishing attacks. There is a need for an intelligent system that can automatically analyse suspicious URLs, emails, and messages, identify phishing attempts, and recommend or initiate an appropriate response. Existing solutions mainly concentrate on detecting and classifying phishing attempts, but they may provide limited support for deciding what action should be taken after a threat is detected. There is therefore a need for an intelligent system that can analyse suspicious content, identify phishing patterns, assess the level of risk, and assist in taking an appropriate response.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7DF7A47-0F17-B010-0AFD-DCBF29E6039C}"/>
              </a:ext>
            </a:extLst>
          </p:cNvPr>
          <p:cNvSpPr txBox="1"/>
          <p:nvPr/>
        </p:nvSpPr>
        <p:spPr>
          <a:xfrm>
            <a:off x="1160205" y="1929776"/>
            <a:ext cx="8190271" cy="2554545"/>
          </a:xfrm>
          <a:prstGeom prst="rect">
            <a:avLst/>
          </a:prstGeom>
          <a:noFill/>
        </p:spPr>
        <p:txBody>
          <a:bodyPr wrap="square">
            <a:spAutoFit/>
          </a:bodyPr>
          <a:lstStyle/>
          <a:p>
            <a:pPr marL="342900" lvl="0" indent="-342900">
              <a:buFont typeface="Arial" panose="020B0604020202020204" pitchFamily="34" charset="0"/>
              <a:buChar char="•"/>
            </a:pPr>
            <a:r>
              <a:rPr lang="en-IN" sz="2000" dirty="0"/>
              <a:t>Develop an AI-based system for detecting phishing attacks. </a:t>
            </a:r>
          </a:p>
          <a:p>
            <a:pPr marL="342900" lvl="0" indent="-342900">
              <a:buFont typeface="Arial" panose="020B0604020202020204" pitchFamily="34" charset="0"/>
              <a:buChar char="•"/>
            </a:pPr>
            <a:r>
              <a:rPr lang="en-IN" sz="2000" dirty="0"/>
              <a:t>Analyse URLs, email content, and suspicious messages. </a:t>
            </a:r>
          </a:p>
          <a:p>
            <a:pPr marL="342900" lvl="0" indent="-342900">
              <a:buFont typeface="Arial" panose="020B0604020202020204" pitchFamily="34" charset="0"/>
              <a:buChar char="•"/>
            </a:pPr>
            <a:r>
              <a:rPr lang="en-IN" sz="2000" dirty="0"/>
              <a:t>Extract relevant features from the input data. </a:t>
            </a:r>
          </a:p>
          <a:p>
            <a:pPr marL="342900" lvl="0" indent="-342900">
              <a:buFont typeface="Arial" panose="020B0604020202020204" pitchFamily="34" charset="0"/>
              <a:buChar char="•"/>
            </a:pPr>
            <a:r>
              <a:rPr lang="en-IN" sz="2000" dirty="0"/>
              <a:t>Train a machine learning/deep learning model to classify legitimate and phishing samples. </a:t>
            </a:r>
          </a:p>
          <a:p>
            <a:pPr marL="342900" lvl="0" indent="-342900">
              <a:buFont typeface="Arial" panose="020B0604020202020204" pitchFamily="34" charset="0"/>
              <a:buChar char="•"/>
            </a:pPr>
            <a:r>
              <a:rPr lang="en-IN" sz="2000" dirty="0"/>
              <a:t>Provide a risk score for detected threats. </a:t>
            </a:r>
          </a:p>
          <a:p>
            <a:pPr marL="342900" lvl="0" indent="-342900">
              <a:buFont typeface="Arial" panose="020B0604020202020204" pitchFamily="34" charset="0"/>
              <a:buChar char="•"/>
            </a:pPr>
            <a:r>
              <a:rPr lang="en-IN" sz="2000" dirty="0"/>
              <a:t>Generate an automated response or recommendation for the user. </a:t>
            </a:r>
          </a:p>
          <a:p>
            <a:pPr marL="342900" lvl="0" indent="-342900">
              <a:buFont typeface="Arial" panose="020B0604020202020204" pitchFamily="34" charset="0"/>
              <a:buChar char="•"/>
            </a:pPr>
            <a:r>
              <a:rPr lang="en-IN" sz="2000" dirty="0"/>
              <a:t>Reduce false positives and improve phishing detection accuracy.</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499144066"/>
              </p:ext>
            </p:extLst>
          </p:nvPr>
        </p:nvGraphicFramePr>
        <p:xfrm>
          <a:off x="274646" y="689466"/>
          <a:ext cx="11642705" cy="4639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solidFill>
                            <a:srgbClr val="FF0000"/>
                          </a:solidFill>
                        </a:rPr>
                        <a:t>Haq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IN" sz="1400" dirty="0">
                          <a:solidFill>
                            <a:srgbClr val="FF0000"/>
                          </a:solidFill>
                        </a:rPr>
                        <a:t>Detecting Phishing URLs Based on a Deep Learning Approach...</a:t>
                      </a:r>
                    </a:p>
                  </a:txBody>
                  <a:tcPr anchor="ct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Deep Learning, URL features, classification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AI can effectively detect phishing URLs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Mainly URL-focused; can be extended to emails/messages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rPr>
                        <a:t>Rashid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Phishing URL Detection Generalisation Using Unsupervised Domain Adaptation</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ML/DL, Domain Adaptation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Addresses poor generalization to new data</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Can be extended beyond URL-based detection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solidFill>
                            <a:srgbClr val="FF0000"/>
                          </a:solidFill>
                        </a:rPr>
                        <a:t>R. Gobinath &amp; S. Manikandan</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IN" sz="1400" i="1" dirty="0">
                          <a:solidFill>
                            <a:srgbClr val="FF0000"/>
                          </a:solidFill>
                        </a:rPr>
                        <a:t>Deep learning-based phishing classification framework for accurate detection using optimized URL intelligence</a:t>
                      </a:r>
                      <a:endParaRPr lang="en-IN" sz="1400" dirty="0">
                        <a:solidFill>
                          <a:srgbClr val="FF0000"/>
                        </a:solidFill>
                      </a:endParaRPr>
                    </a:p>
                  </a:txBody>
                  <a:tcPr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Deep Learning + optimized URL features</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Addresses limitations of rule-based and blacklist-based systems and targets dynamic phishing URLs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Further improvement is needed for zero-day/camouflaged attacks</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5EF770B9-ED88-9A04-5474-6251677058F1}"/>
              </a:ext>
            </a:extLst>
          </p:cNvPr>
          <p:cNvSpPr txBox="1"/>
          <p:nvPr/>
        </p:nvSpPr>
        <p:spPr>
          <a:xfrm>
            <a:off x="1622323" y="2554295"/>
            <a:ext cx="8627057" cy="1200329"/>
          </a:xfrm>
          <a:prstGeom prst="rect">
            <a:avLst/>
          </a:prstGeom>
          <a:noFill/>
        </p:spPr>
        <p:txBody>
          <a:bodyPr wrap="square">
            <a:spAutoFit/>
          </a:bodyPr>
          <a:lstStyle/>
          <a:p>
            <a:pPr>
              <a:buNone/>
            </a:pPr>
            <a:r>
              <a:rPr lang="en-IN" dirty="0"/>
              <a:t>The major gap is that many existing solutions focus mainly on detection, while fewer systems provide an integrated detection + intelligent response mechanism.</a:t>
            </a:r>
          </a:p>
          <a:p>
            <a:pPr>
              <a:buNone/>
            </a:pPr>
            <a:r>
              <a:rPr lang="en-IN" dirty="0"/>
              <a:t>Your project addresses this gap by combining:</a:t>
            </a:r>
          </a:p>
          <a:p>
            <a:pPr>
              <a:buNone/>
            </a:pPr>
            <a:r>
              <a:rPr lang="en-IN" dirty="0"/>
              <a:t>Phishing Detection → Risk Analysis → AI Decision → Automated Response</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DC48925D-680D-D4EF-6FA0-728FD4F45BA7}"/>
              </a:ext>
            </a:extLst>
          </p:cNvPr>
          <p:cNvSpPr txBox="1"/>
          <p:nvPr/>
        </p:nvSpPr>
        <p:spPr>
          <a:xfrm>
            <a:off x="1189702" y="1697699"/>
            <a:ext cx="9468465" cy="4247317"/>
          </a:xfrm>
          <a:prstGeom prst="rect">
            <a:avLst/>
          </a:prstGeom>
          <a:noFill/>
        </p:spPr>
        <p:txBody>
          <a:bodyPr wrap="square">
            <a:spAutoFit/>
          </a:bodyPr>
          <a:lstStyle/>
          <a:p>
            <a:pPr>
              <a:buNone/>
            </a:pPr>
            <a:r>
              <a:rPr lang="en-IN" b="1" dirty="0"/>
              <a:t>1. AI-Based Phishing Detection</a:t>
            </a:r>
            <a:br>
              <a:rPr lang="en-IN" dirty="0"/>
            </a:br>
            <a:r>
              <a:rPr lang="en-IN" dirty="0"/>
              <a:t>Uses AI/ML techniques to identify phishing attempts instead of relying only on predefined rules or blacklists.</a:t>
            </a:r>
          </a:p>
          <a:p>
            <a:pPr>
              <a:buNone/>
            </a:pPr>
            <a:r>
              <a:rPr lang="en-IN" b="1" dirty="0"/>
              <a:t>2. Multi-Level Analysis</a:t>
            </a:r>
            <a:br>
              <a:rPr lang="en-IN" dirty="0"/>
            </a:br>
            <a:r>
              <a:rPr lang="en-IN" dirty="0"/>
              <a:t>Analyses different phishing indicators such as URLs, email/message content, and </a:t>
            </a:r>
            <a:r>
              <a:rPr lang="en-IN" b="1" dirty="0"/>
              <a:t>suspicious patterns</a:t>
            </a:r>
            <a:r>
              <a:rPr lang="en-IN" dirty="0"/>
              <a:t> to make the detection more reliable.</a:t>
            </a:r>
          </a:p>
          <a:p>
            <a:pPr>
              <a:buNone/>
            </a:pPr>
            <a:r>
              <a:rPr lang="en-IN" b="1" dirty="0"/>
              <a:t>3. Risk-Based Decision Making</a:t>
            </a:r>
            <a:br>
              <a:rPr lang="en-IN" dirty="0"/>
            </a:br>
            <a:r>
              <a:rPr lang="en-IN" dirty="0"/>
              <a:t>Instead of giving only </a:t>
            </a:r>
            <a:r>
              <a:rPr lang="en-IN" i="1" dirty="0"/>
              <a:t>“Phishing”</a:t>
            </a:r>
            <a:r>
              <a:rPr lang="en-IN" dirty="0"/>
              <a:t> or </a:t>
            </a:r>
            <a:r>
              <a:rPr lang="en-IN" i="1" dirty="0"/>
              <a:t>“Legitimate”</a:t>
            </a:r>
            <a:r>
              <a:rPr lang="en-IN" dirty="0"/>
              <a:t>, the system generates a risk score indicating the severity of the detected threat.</a:t>
            </a:r>
          </a:p>
          <a:p>
            <a:pPr>
              <a:buNone/>
            </a:pPr>
            <a:r>
              <a:rPr lang="en-IN" b="1" dirty="0"/>
              <a:t>4. Detection + Response in One Agent</a:t>
            </a:r>
            <a:br>
              <a:rPr lang="en-IN" dirty="0"/>
            </a:br>
            <a:r>
              <a:rPr lang="en-IN" dirty="0"/>
              <a:t>The project combines phishing detection, risk assessment, and response assistance into a single intelligent agent.</a:t>
            </a:r>
          </a:p>
          <a:p>
            <a:pPr>
              <a:buNone/>
            </a:pPr>
            <a:r>
              <a:rPr lang="en-IN" b="1" dirty="0"/>
              <a:t>5. Automated Response Assistance</a:t>
            </a:r>
            <a:br>
              <a:rPr lang="en-IN" dirty="0"/>
            </a:br>
            <a:r>
              <a:rPr lang="en-IN" dirty="0"/>
              <a:t>After detecting a threat, the agent can recommend actions such as Alert, Block, or Report, reducing the need for manual decision-making.</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6" name="Picture 5">
            <a:extLst>
              <a:ext uri="{FF2B5EF4-FFF2-40B4-BE49-F238E27FC236}">
                <a16:creationId xmlns:a16="http://schemas.microsoft.com/office/drawing/2014/main" id="{EDA87FDF-A91D-3812-0AB4-F5DAA6D0054D}"/>
              </a:ext>
            </a:extLst>
          </p:cNvPr>
          <p:cNvPicPr>
            <a:picLocks noChangeAspect="1"/>
          </p:cNvPicPr>
          <p:nvPr/>
        </p:nvPicPr>
        <p:blipFill>
          <a:blip r:embed="rId3"/>
          <a:stretch>
            <a:fillRect/>
          </a:stretch>
        </p:blipFill>
        <p:spPr>
          <a:xfrm>
            <a:off x="2615380" y="2646573"/>
            <a:ext cx="7634000" cy="3945503"/>
          </a:xfrm>
          <a:prstGeom prst="rect">
            <a:avLst/>
          </a:prstGeom>
        </p:spPr>
      </p:pic>
      <p:sp>
        <p:nvSpPr>
          <p:cNvPr id="3" name="TextBox 2">
            <a:extLst>
              <a:ext uri="{FF2B5EF4-FFF2-40B4-BE49-F238E27FC236}">
                <a16:creationId xmlns:a16="http://schemas.microsoft.com/office/drawing/2014/main" id="{CDA8CE95-26D3-FDFD-F752-CB6E219A9FD9}"/>
              </a:ext>
            </a:extLst>
          </p:cNvPr>
          <p:cNvSpPr txBox="1"/>
          <p:nvPr/>
        </p:nvSpPr>
        <p:spPr>
          <a:xfrm>
            <a:off x="1140542" y="1312417"/>
            <a:ext cx="9704438" cy="1477328"/>
          </a:xfrm>
          <a:prstGeom prst="rect">
            <a:avLst/>
          </a:prstGeom>
          <a:noFill/>
        </p:spPr>
        <p:txBody>
          <a:bodyPr wrap="square">
            <a:spAutoFit/>
          </a:bodyPr>
          <a:lstStyle/>
          <a:p>
            <a:r>
              <a:rPr lang="en-IN" dirty="0"/>
              <a:t>The proposed project is technically feasible using open-source technologies such as Python, Scikit-learn, Flask, React.js, and MongoDB. Publicly available phishing datasets can be used for training and testing the AI/ML model, and the system can run on a standard computer without specialized hardware. Therefore, the project is cost-effective, practical, and feasible for implementation.</a:t>
            </a:r>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663</Words>
  <Application>Microsoft Office PowerPoint</Application>
  <PresentationFormat>Widescreen</PresentationFormat>
  <Paragraphs>82</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SREEHITHA POTLURU</cp:lastModifiedBy>
  <cp:revision>37</cp:revision>
  <dcterms:created xsi:type="dcterms:W3CDTF">2026-08-08T06:33:56Z</dcterms:created>
  <dcterms:modified xsi:type="dcterms:W3CDTF">2026-08-20T03:08:56Z</dcterms:modified>
</cp:coreProperties>
</file>