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7"/>
  </p:notesMasterIdLst>
  <p:sldIdLst>
    <p:sldId id="262" r:id="rId3"/>
    <p:sldId id="707" r:id="rId4"/>
    <p:sldId id="257" r:id="rId5"/>
    <p:sldId id="903" r:id="rId6"/>
    <p:sldId id="902" r:id="rId7"/>
    <p:sldId id="258" r:id="rId8"/>
    <p:sldId id="259" r:id="rId9"/>
    <p:sldId id="260" r:id="rId10"/>
    <p:sldId id="904" r:id="rId11"/>
    <p:sldId id="905" r:id="rId12"/>
    <p:sldId id="906" r:id="rId13"/>
    <p:sldId id="907" r:id="rId14"/>
    <p:sldId id="908" r:id="rId15"/>
    <p:sldId id="90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22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22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22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22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22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22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22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22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22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22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22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22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1903456348"/>
              </p:ext>
            </p:extLst>
          </p:nvPr>
        </p:nvGraphicFramePr>
        <p:xfrm>
          <a:off x="8193271" y="4898509"/>
          <a:ext cx="3702050" cy="106680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err="1">
                          <a:solidFill>
                            <a:schemeClr val="tx1"/>
                          </a:solidFill>
                          <a:latin typeface="Times New Roman" panose="02020603050405020304" pitchFamily="18" charset="0"/>
                          <a:cs typeface="Times New Roman" panose="02020603050405020304" pitchFamily="18" charset="0"/>
                        </a:rPr>
                        <a:t>A.Lahari</a:t>
                      </a:r>
                      <a:r>
                        <a:rPr lang="en-IN" sz="1600" b="1" dirty="0">
                          <a:solidFill>
                            <a:schemeClr val="tx1"/>
                          </a:solidFill>
                          <a:latin typeface="Times New Roman" panose="02020603050405020304" pitchFamily="18" charset="0"/>
                          <a:cs typeface="Times New Roman" panose="02020603050405020304" pitchFamily="18" charset="0"/>
                        </a:rPr>
                        <a:t> – 2420030055</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err="1">
                          <a:solidFill>
                            <a:schemeClr val="tx1"/>
                          </a:solidFill>
                          <a:latin typeface="Times New Roman" panose="02020603050405020304" pitchFamily="18" charset="0"/>
                          <a:cs typeface="Times New Roman" panose="02020603050405020304" pitchFamily="18" charset="0"/>
                        </a:rPr>
                        <a:t>P.Priyanka</a:t>
                      </a:r>
                      <a:r>
                        <a:rPr lang="en-IN" sz="1600" b="1" dirty="0">
                          <a:solidFill>
                            <a:schemeClr val="tx1"/>
                          </a:solidFill>
                          <a:latin typeface="Times New Roman" panose="02020603050405020304" pitchFamily="18" charset="0"/>
                          <a:cs typeface="Times New Roman" panose="02020603050405020304" pitchFamily="18" charset="0"/>
                        </a:rPr>
                        <a:t> – 2420030132</a:t>
                      </a:r>
                      <a:br>
                        <a:rPr lang="en-IN" sz="1600" b="1" dirty="0">
                          <a:solidFill>
                            <a:schemeClr val="tx1"/>
                          </a:solidFill>
                          <a:latin typeface="Times New Roman" panose="02020603050405020304" pitchFamily="18" charset="0"/>
                          <a:cs typeface="Times New Roman" panose="02020603050405020304" pitchFamily="18" charset="0"/>
                        </a:rPr>
                      </a:br>
                      <a:r>
                        <a:rPr lang="en-IN" sz="1600" b="1" dirty="0">
                          <a:solidFill>
                            <a:schemeClr val="tx1"/>
                          </a:solidFill>
                          <a:latin typeface="Times New Roman" panose="02020603050405020304" pitchFamily="18" charset="0"/>
                          <a:cs typeface="Times New Roman" panose="02020603050405020304" pitchFamily="18" charset="0"/>
                        </a:rPr>
                        <a:t>P.Sreehitha-2420030410</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4146738346"/>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Dr.Neelima</a:t>
                      </a: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 Gogineni</a:t>
                      </a:r>
                    </a:p>
                    <a:p>
                      <a:pPr marL="0" indent="0" algn="l">
                        <a:lnSpc>
                          <a:spcPct val="100000"/>
                        </a:lnSpc>
                        <a:spcBef>
                          <a:spcPts val="200"/>
                        </a:spcBef>
                        <a:buSzPts val="810"/>
                        <a:buNone/>
                      </a:pP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Proffessor</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Review-2</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1077218"/>
          </a:xfrm>
          <a:prstGeom prst="rect">
            <a:avLst/>
          </a:prstGeom>
          <a:noFill/>
        </p:spPr>
        <p:txBody>
          <a:bodyPr wrap="square">
            <a:spAutoFit/>
          </a:bodyPr>
          <a:lstStyle/>
          <a:p>
            <a:pPr algn="ctr">
              <a:defRPr/>
            </a:pPr>
            <a:r>
              <a:rPr lang="en-IN" sz="2800" b="1" dirty="0"/>
              <a:t>AI-Based Phishing Detection &amp; Response Agent</a:t>
            </a:r>
          </a:p>
          <a:p>
            <a:pPr lvl="0" algn="ctr">
              <a:defRPr/>
            </a:pP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Review-2</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A122CEAE-3D8A-18B6-B671-F74373D4F65E}"/>
              </a:ext>
            </a:extLst>
          </p:cNvPr>
          <p:cNvSpPr txBox="1"/>
          <p:nvPr/>
        </p:nvSpPr>
        <p:spPr>
          <a:xfrm>
            <a:off x="1809134" y="2277296"/>
            <a:ext cx="8278763" cy="2862322"/>
          </a:xfrm>
          <a:prstGeom prst="rect">
            <a:avLst/>
          </a:prstGeom>
          <a:noFill/>
        </p:spPr>
        <p:txBody>
          <a:bodyPr wrap="square">
            <a:spAutoFit/>
          </a:bodyPr>
          <a:lstStyle/>
          <a:p>
            <a:pPr algn="just"/>
            <a:r>
              <a:rPr lang="en-IN" dirty="0"/>
              <a:t>Existing phishing detection systems mainly rely on predefined rules, blacklists, and manually engineered features. These approaches may fail to detect newly generated or evolving phishing attacks. There is a need for an intelligent system that can automatically </a:t>
            </a:r>
            <a:r>
              <a:rPr lang="en-IN" dirty="0" err="1"/>
              <a:t>analyze</a:t>
            </a:r>
            <a:r>
              <a:rPr lang="en-IN" dirty="0"/>
              <a:t> suspicious URLs, emails, and messages, identify phishing attempts, and recommend or initiate an appropriate response. Existing solutions mainly concentrate on detecting and classifying phishing attempts, but they may provide limited support for deciding what action should be taken after a threat is detected. There is therefore a need for an intelligent system that can </a:t>
            </a:r>
            <a:r>
              <a:rPr lang="en-IN" dirty="0" err="1"/>
              <a:t>analyze</a:t>
            </a:r>
            <a:r>
              <a:rPr lang="en-IN" dirty="0"/>
              <a:t> suspicious content, identify phishing patterns, assess the level of risk, and assist in taking an appropriate response.</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27DF7A47-0F17-B010-0AFD-DCBF29E6039C}"/>
              </a:ext>
            </a:extLst>
          </p:cNvPr>
          <p:cNvSpPr txBox="1"/>
          <p:nvPr/>
        </p:nvSpPr>
        <p:spPr>
          <a:xfrm>
            <a:off x="1160205" y="1929776"/>
            <a:ext cx="8190271" cy="2308324"/>
          </a:xfrm>
          <a:prstGeom prst="rect">
            <a:avLst/>
          </a:prstGeom>
          <a:noFill/>
        </p:spPr>
        <p:txBody>
          <a:bodyPr wrap="square">
            <a:spAutoFit/>
          </a:bodyPr>
          <a:lstStyle/>
          <a:p>
            <a:pPr marL="342900" lvl="0" indent="-342900">
              <a:buFont typeface="Arial" panose="020B0604020202020204" pitchFamily="34" charset="0"/>
              <a:buChar char="•"/>
            </a:pPr>
            <a:r>
              <a:rPr lang="en-IN" dirty="0"/>
              <a:t>Develop an AI-based system for detecting phishing attacks. </a:t>
            </a:r>
          </a:p>
          <a:p>
            <a:pPr marL="342900" lvl="0" indent="-342900">
              <a:buFont typeface="Arial" panose="020B0604020202020204" pitchFamily="34" charset="0"/>
              <a:buChar char="•"/>
            </a:pPr>
            <a:r>
              <a:rPr lang="en-IN" dirty="0"/>
              <a:t>Analyse URLs, email content, and suspicious messages. </a:t>
            </a:r>
          </a:p>
          <a:p>
            <a:pPr marL="342900" lvl="0" indent="-342900">
              <a:buFont typeface="Arial" panose="020B0604020202020204" pitchFamily="34" charset="0"/>
              <a:buChar char="•"/>
            </a:pPr>
            <a:r>
              <a:rPr lang="en-IN" dirty="0"/>
              <a:t>Extract relevant features from the input data. </a:t>
            </a:r>
          </a:p>
          <a:p>
            <a:pPr marL="342900" lvl="0" indent="-342900">
              <a:buFont typeface="Arial" panose="020B0604020202020204" pitchFamily="34" charset="0"/>
              <a:buChar char="•"/>
            </a:pPr>
            <a:r>
              <a:rPr lang="en-IN" dirty="0"/>
              <a:t>Train a machine learning/deep learning model to classify legitimate and phishing samples. </a:t>
            </a:r>
          </a:p>
          <a:p>
            <a:pPr marL="342900" lvl="0" indent="-342900">
              <a:buFont typeface="Arial" panose="020B0604020202020204" pitchFamily="34" charset="0"/>
              <a:buChar char="•"/>
            </a:pPr>
            <a:r>
              <a:rPr lang="en-IN" dirty="0"/>
              <a:t>Provide a risk score for detected threats. </a:t>
            </a:r>
          </a:p>
          <a:p>
            <a:pPr marL="342900" lvl="0" indent="-342900">
              <a:buFont typeface="Arial" panose="020B0604020202020204" pitchFamily="34" charset="0"/>
              <a:buChar char="•"/>
            </a:pPr>
            <a:r>
              <a:rPr lang="en-IN" dirty="0"/>
              <a:t>Generate an automated response or recommendation for the user. </a:t>
            </a:r>
          </a:p>
          <a:p>
            <a:pPr marL="342900" lvl="0" indent="-342900">
              <a:buFont typeface="Arial" panose="020B0604020202020204" pitchFamily="34" charset="0"/>
              <a:buChar char="•"/>
            </a:pPr>
            <a:r>
              <a:rPr lang="en-IN" dirty="0"/>
              <a:t>Reduce false positives and improve phishing detection accuracy.</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2499144066"/>
              </p:ext>
            </p:extLst>
          </p:nvPr>
        </p:nvGraphicFramePr>
        <p:xfrm>
          <a:off x="274646" y="689466"/>
          <a:ext cx="11642705" cy="4639054"/>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IN" sz="1400" dirty="0">
                          <a:solidFill>
                            <a:srgbClr val="FF0000"/>
                          </a:solidFill>
                        </a:rPr>
                        <a:t>Haq et al.</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a:buNone/>
                      </a:pPr>
                      <a:r>
                        <a:rPr lang="en-IN" sz="1400" dirty="0">
                          <a:solidFill>
                            <a:srgbClr val="FF0000"/>
                          </a:solidFill>
                        </a:rPr>
                        <a:t>Detecting Phishing URLs Based on a Deep Learning Approach...</a:t>
                      </a:r>
                    </a:p>
                  </a:txBody>
                  <a:tcPr anchor="ct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Deep Learning, URL features, classification</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AI can effectively detect phishing URLs</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solidFill>
                            <a:srgbClr val="FF0000"/>
                          </a:solidFill>
                        </a:rPr>
                        <a:t>Mainly URL-focused; can be extended to emails/messages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IN" sz="1400" dirty="0">
                          <a:solidFill>
                            <a:srgbClr val="FF0000"/>
                          </a:solidFill>
                        </a:rPr>
                        <a:t>Rashid et al.</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solidFill>
                            <a:srgbClr val="FF0000"/>
                          </a:solidFill>
                        </a:rPr>
                        <a:t>Phishing URL Detection Generalisation Using Unsupervised Domain Adaptation</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ML/DL, Domain Adaptation</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Addresses poor generalization to new data</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solidFill>
                            <a:srgbClr val="FF0000"/>
                          </a:solidFill>
                        </a:rPr>
                        <a:t>Can be extended beyond URL-based detection</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IN" sz="1400" dirty="0">
                          <a:solidFill>
                            <a:srgbClr val="FF0000"/>
                          </a:solidFill>
                        </a:rPr>
                        <a:t>R. Gobinath &amp; S. Manikandan</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a:buNone/>
                      </a:pPr>
                      <a:r>
                        <a:rPr lang="en-IN" sz="1400" i="1" dirty="0">
                          <a:solidFill>
                            <a:srgbClr val="FF0000"/>
                          </a:solidFill>
                        </a:rPr>
                        <a:t>Deep learning-based phishing classification framework for accurate detection using optimized URL intelligence</a:t>
                      </a:r>
                      <a:endParaRPr lang="en-IN" sz="1400" dirty="0">
                        <a:solidFill>
                          <a:srgbClr val="FF0000"/>
                        </a:solidFill>
                      </a:endParaRPr>
                    </a:p>
                  </a:txBody>
                  <a:tcPr anchor="ct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Deep Learning + optimized URL features</a:t>
                      </a:r>
                      <a:endParaRPr lang="en-US" sz="1400" b="0" u="none" kern="1200" dirty="0">
                        <a:solidFill>
                          <a:srgbClr val="FF0000"/>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Addresses limitations of rule-based and blacklist-based systems and targets dynamic phishing URLs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solidFill>
                            <a:srgbClr val="FF0000"/>
                          </a:solidFill>
                        </a:rPr>
                        <a:t>Further improvement is needed for zero-day/camouflaged attacks</a:t>
                      </a:r>
                      <a:endParaRPr lang="en-US" sz="1400" b="1"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5EF770B9-ED88-9A04-5474-6251677058F1}"/>
              </a:ext>
            </a:extLst>
          </p:cNvPr>
          <p:cNvSpPr txBox="1"/>
          <p:nvPr/>
        </p:nvSpPr>
        <p:spPr>
          <a:xfrm>
            <a:off x="1622323" y="2554295"/>
            <a:ext cx="8627057" cy="1200329"/>
          </a:xfrm>
          <a:prstGeom prst="rect">
            <a:avLst/>
          </a:prstGeom>
          <a:noFill/>
        </p:spPr>
        <p:txBody>
          <a:bodyPr wrap="square">
            <a:spAutoFit/>
          </a:bodyPr>
          <a:lstStyle/>
          <a:p>
            <a:pPr>
              <a:buNone/>
            </a:pPr>
            <a:r>
              <a:rPr lang="en-IN" dirty="0"/>
              <a:t>The major gap is that many existing solutions focus mainly on detection, while fewer systems provide an integrated detection + intelligent response mechanism.</a:t>
            </a:r>
          </a:p>
          <a:p>
            <a:pPr>
              <a:buNone/>
            </a:pPr>
            <a:r>
              <a:rPr lang="en-IN" dirty="0"/>
              <a:t>Your project addresses this gap by combining:</a:t>
            </a:r>
          </a:p>
          <a:p>
            <a:pPr>
              <a:buNone/>
            </a:pPr>
            <a:r>
              <a:rPr lang="en-IN" dirty="0"/>
              <a:t>Phishing Detection → Risk Analysis → AI Decision → Automated Response</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DC48925D-680D-D4EF-6FA0-728FD4F45BA7}"/>
              </a:ext>
            </a:extLst>
          </p:cNvPr>
          <p:cNvSpPr txBox="1"/>
          <p:nvPr/>
        </p:nvSpPr>
        <p:spPr>
          <a:xfrm>
            <a:off x="1189702" y="1697699"/>
            <a:ext cx="9468465" cy="4247317"/>
          </a:xfrm>
          <a:prstGeom prst="rect">
            <a:avLst/>
          </a:prstGeom>
          <a:noFill/>
        </p:spPr>
        <p:txBody>
          <a:bodyPr wrap="square">
            <a:spAutoFit/>
          </a:bodyPr>
          <a:lstStyle/>
          <a:p>
            <a:pPr>
              <a:buNone/>
            </a:pPr>
            <a:r>
              <a:rPr lang="en-IN" b="1" dirty="0"/>
              <a:t>1. AI-Based Phishing Detection</a:t>
            </a:r>
            <a:br>
              <a:rPr lang="en-IN" dirty="0"/>
            </a:br>
            <a:r>
              <a:rPr lang="en-IN" dirty="0"/>
              <a:t>Uses AI/ML techniques to identify phishing attempts instead of relying only on predefined rules or blacklists.</a:t>
            </a:r>
          </a:p>
          <a:p>
            <a:pPr>
              <a:buNone/>
            </a:pPr>
            <a:r>
              <a:rPr lang="en-IN" b="1" dirty="0"/>
              <a:t>2. Multi-Level Analysis</a:t>
            </a:r>
            <a:br>
              <a:rPr lang="en-IN" dirty="0"/>
            </a:br>
            <a:r>
              <a:rPr lang="en-IN" dirty="0"/>
              <a:t>Analyses different phishing indicators such as URLs, email/message content, and </a:t>
            </a:r>
            <a:r>
              <a:rPr lang="en-IN" b="1" dirty="0"/>
              <a:t>suspicious patterns</a:t>
            </a:r>
            <a:r>
              <a:rPr lang="en-IN" dirty="0"/>
              <a:t> to make the detection more reliable.</a:t>
            </a:r>
          </a:p>
          <a:p>
            <a:pPr>
              <a:buNone/>
            </a:pPr>
            <a:r>
              <a:rPr lang="en-IN" b="1" dirty="0"/>
              <a:t>3. Risk-Based Decision Making</a:t>
            </a:r>
            <a:br>
              <a:rPr lang="en-IN" dirty="0"/>
            </a:br>
            <a:r>
              <a:rPr lang="en-IN" dirty="0"/>
              <a:t>Instead of giving only </a:t>
            </a:r>
            <a:r>
              <a:rPr lang="en-IN" i="1" dirty="0"/>
              <a:t>“Phishing”</a:t>
            </a:r>
            <a:r>
              <a:rPr lang="en-IN" dirty="0"/>
              <a:t> or </a:t>
            </a:r>
            <a:r>
              <a:rPr lang="en-IN" i="1" dirty="0"/>
              <a:t>“Legitimate”</a:t>
            </a:r>
            <a:r>
              <a:rPr lang="en-IN" dirty="0"/>
              <a:t>, the system generates a risk score indicating the severity of the detected threat.</a:t>
            </a:r>
          </a:p>
          <a:p>
            <a:pPr>
              <a:buNone/>
            </a:pPr>
            <a:r>
              <a:rPr lang="en-IN" b="1" dirty="0"/>
              <a:t>4. Detection + Response in One Agent</a:t>
            </a:r>
            <a:br>
              <a:rPr lang="en-IN" dirty="0"/>
            </a:br>
            <a:r>
              <a:rPr lang="en-IN" dirty="0"/>
              <a:t>The project combines phishing detection, risk assessment, and response assistance into a single intelligent agent.</a:t>
            </a:r>
          </a:p>
          <a:p>
            <a:pPr>
              <a:buNone/>
            </a:pPr>
            <a:r>
              <a:rPr lang="en-IN" b="1" dirty="0"/>
              <a:t>5. Automated Response Assistance</a:t>
            </a:r>
            <a:br>
              <a:rPr lang="en-IN" dirty="0"/>
            </a:br>
            <a:r>
              <a:rPr lang="en-IN" dirty="0"/>
              <a:t>After detecting a threat, the agent can recommend actions such as Alert, Block, or Report, reducing the need for manual decision-making.</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pic>
        <p:nvPicPr>
          <p:cNvPr id="6" name="Picture 5">
            <a:extLst>
              <a:ext uri="{FF2B5EF4-FFF2-40B4-BE49-F238E27FC236}">
                <a16:creationId xmlns:a16="http://schemas.microsoft.com/office/drawing/2014/main" id="{EDA87FDF-A91D-3812-0AB4-F5DAA6D0054D}"/>
              </a:ext>
            </a:extLst>
          </p:cNvPr>
          <p:cNvPicPr>
            <a:picLocks noChangeAspect="1"/>
          </p:cNvPicPr>
          <p:nvPr/>
        </p:nvPicPr>
        <p:blipFill>
          <a:blip r:embed="rId3"/>
          <a:stretch>
            <a:fillRect/>
          </a:stretch>
        </p:blipFill>
        <p:spPr>
          <a:xfrm>
            <a:off x="2615380" y="2646573"/>
            <a:ext cx="7634000" cy="3945503"/>
          </a:xfrm>
          <a:prstGeom prst="rect">
            <a:avLst/>
          </a:prstGeom>
        </p:spPr>
      </p:pic>
      <p:sp>
        <p:nvSpPr>
          <p:cNvPr id="3" name="TextBox 2">
            <a:extLst>
              <a:ext uri="{FF2B5EF4-FFF2-40B4-BE49-F238E27FC236}">
                <a16:creationId xmlns:a16="http://schemas.microsoft.com/office/drawing/2014/main" id="{CDA8CE95-26D3-FDFD-F752-CB6E219A9FD9}"/>
              </a:ext>
            </a:extLst>
          </p:cNvPr>
          <p:cNvSpPr txBox="1"/>
          <p:nvPr/>
        </p:nvSpPr>
        <p:spPr>
          <a:xfrm>
            <a:off x="1140542" y="1312417"/>
            <a:ext cx="9704438" cy="1477328"/>
          </a:xfrm>
          <a:prstGeom prst="rect">
            <a:avLst/>
          </a:prstGeom>
          <a:noFill/>
        </p:spPr>
        <p:txBody>
          <a:bodyPr wrap="square">
            <a:spAutoFit/>
          </a:bodyPr>
          <a:lstStyle/>
          <a:p>
            <a:r>
              <a:rPr lang="en-IN" dirty="0"/>
              <a:t>The proposed project is technically feasible using open-source technologies such as Python, Scikit-learn, Flask, React.js, and MongoDB. Publicly available phishing datasets can be used for training and testing the AI/ML model, and the system can run on a standard computer without specialized hardware. Therefore, the project is cost-effective, practical, and feasible for implementation.</a:t>
            </a:r>
          </a:p>
        </p:txBody>
      </p:sp>
    </p:spTree>
    <p:extLst>
      <p:ext uri="{BB962C8B-B14F-4D97-AF65-F5344CB8AC3E}">
        <p14:creationId xmlns:p14="http://schemas.microsoft.com/office/powerpoint/2010/main" val="4118855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AC34B-EA4B-35C0-640F-724646FA9E0B}"/>
              </a:ext>
            </a:extLst>
          </p:cNvPr>
          <p:cNvSpPr>
            <a:spLocks noGrp="1"/>
          </p:cNvSpPr>
          <p:nvPr>
            <p:ph type="title"/>
          </p:nvPr>
        </p:nvSpPr>
        <p:spPr/>
        <p:txBody>
          <a:bodyPr/>
          <a:lstStyle/>
          <a:p>
            <a:r>
              <a:rPr lang="en-IN" dirty="0"/>
              <a:t>Project Design</a:t>
            </a:r>
          </a:p>
        </p:txBody>
      </p:sp>
      <p:sp>
        <p:nvSpPr>
          <p:cNvPr id="3" name="Content Placeholder 2">
            <a:extLst>
              <a:ext uri="{FF2B5EF4-FFF2-40B4-BE49-F238E27FC236}">
                <a16:creationId xmlns:a16="http://schemas.microsoft.com/office/drawing/2014/main" id="{33CF0A3E-822E-4D22-F0BB-8D7C8E149781}"/>
              </a:ext>
            </a:extLst>
          </p:cNvPr>
          <p:cNvSpPr>
            <a:spLocks noGrp="1"/>
          </p:cNvSpPr>
          <p:nvPr>
            <p:ph idx="1"/>
          </p:nvPr>
        </p:nvSpPr>
        <p:spPr/>
        <p:txBody>
          <a:bodyPr/>
          <a:lstStyle/>
          <a:p>
            <a:pPr>
              <a:spcAft>
                <a:spcPts val="1200"/>
              </a:spcAft>
              <a:defRPr sz="2000"/>
            </a:pPr>
            <a:r>
              <a:rPr lang="en-US" dirty="0"/>
              <a:t>Input: URL / Email Content</a:t>
            </a:r>
          </a:p>
          <a:p>
            <a:pPr>
              <a:spcAft>
                <a:spcPts val="1200"/>
              </a:spcAft>
              <a:defRPr sz="2000"/>
            </a:pPr>
            <a:r>
              <a:rPr lang="en-US" dirty="0"/>
              <a:t>Detection Service → extracts features and predicts phishing likelihood</a:t>
            </a:r>
          </a:p>
          <a:p>
            <a:pPr>
              <a:spcAft>
                <a:spcPts val="1200"/>
              </a:spcAft>
              <a:defRPr sz="2000"/>
            </a:pPr>
            <a:r>
              <a:rPr lang="en-US" dirty="0"/>
              <a:t>Risk Service → calculates risk score and threat level</a:t>
            </a:r>
          </a:p>
          <a:p>
            <a:pPr>
              <a:spcAft>
                <a:spcPts val="1200"/>
              </a:spcAft>
              <a:defRPr sz="2000"/>
            </a:pPr>
            <a:r>
              <a:rPr lang="en-US" dirty="0"/>
              <a:t>Response Service → Allow / Warn / Block / Report</a:t>
            </a:r>
            <a:endParaRPr lang="en-IN" dirty="0"/>
          </a:p>
        </p:txBody>
      </p:sp>
    </p:spTree>
    <p:extLst>
      <p:ext uri="{BB962C8B-B14F-4D97-AF65-F5344CB8AC3E}">
        <p14:creationId xmlns:p14="http://schemas.microsoft.com/office/powerpoint/2010/main" val="2383001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4FB6C-0842-1583-793B-AF2A0003FF71}"/>
              </a:ext>
            </a:extLst>
          </p:cNvPr>
          <p:cNvSpPr>
            <a:spLocks noGrp="1"/>
          </p:cNvSpPr>
          <p:nvPr>
            <p:ph type="title"/>
          </p:nvPr>
        </p:nvSpPr>
        <p:spPr/>
        <p:txBody>
          <a:bodyPr/>
          <a:lstStyle/>
          <a:p>
            <a:r>
              <a:rPr lang="en-IN" dirty="0"/>
              <a:t> System Architecture</a:t>
            </a:r>
            <a:br>
              <a:rPr lang="en-IN" dirty="0"/>
            </a:br>
            <a:endParaRPr lang="en-IN" dirty="0"/>
          </a:p>
        </p:txBody>
      </p:sp>
      <p:pic>
        <p:nvPicPr>
          <p:cNvPr id="7" name="Content Placeholder 6">
            <a:extLst>
              <a:ext uri="{FF2B5EF4-FFF2-40B4-BE49-F238E27FC236}">
                <a16:creationId xmlns:a16="http://schemas.microsoft.com/office/drawing/2014/main" id="{11F5554E-7605-4531-BDCD-00FF4A4A9F9A}"/>
              </a:ext>
            </a:extLst>
          </p:cNvPr>
          <p:cNvPicPr>
            <a:picLocks noGrp="1" noChangeAspect="1"/>
          </p:cNvPicPr>
          <p:nvPr>
            <p:ph idx="1"/>
          </p:nvPr>
        </p:nvPicPr>
        <p:blipFill>
          <a:blip r:embed="rId2"/>
          <a:stretch>
            <a:fillRect/>
          </a:stretch>
        </p:blipFill>
        <p:spPr>
          <a:xfrm>
            <a:off x="1074175" y="3026220"/>
            <a:ext cx="5418290" cy="3368332"/>
          </a:xfrm>
          <a:prstGeom prst="rect">
            <a:avLst/>
          </a:prstGeom>
        </p:spPr>
      </p:pic>
      <p:pic>
        <p:nvPicPr>
          <p:cNvPr id="5" name="Picture 4">
            <a:extLst>
              <a:ext uri="{FF2B5EF4-FFF2-40B4-BE49-F238E27FC236}">
                <a16:creationId xmlns:a16="http://schemas.microsoft.com/office/drawing/2014/main" id="{D63DB204-F1A7-FD39-9F66-904D4B448D95}"/>
              </a:ext>
            </a:extLst>
          </p:cNvPr>
          <p:cNvPicPr>
            <a:picLocks noChangeAspect="1"/>
          </p:cNvPicPr>
          <p:nvPr/>
        </p:nvPicPr>
        <p:blipFill>
          <a:blip r:embed="rId3"/>
          <a:stretch>
            <a:fillRect/>
          </a:stretch>
        </p:blipFill>
        <p:spPr>
          <a:xfrm>
            <a:off x="1074175" y="1027906"/>
            <a:ext cx="10043650" cy="1699407"/>
          </a:xfrm>
          <a:prstGeom prst="rect">
            <a:avLst/>
          </a:prstGeom>
        </p:spPr>
      </p:pic>
    </p:spTree>
    <p:extLst>
      <p:ext uri="{BB962C8B-B14F-4D97-AF65-F5344CB8AC3E}">
        <p14:creationId xmlns:p14="http://schemas.microsoft.com/office/powerpoint/2010/main" val="4189482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6CA7E-0D2A-6351-22A7-70F7F851DD9B}"/>
              </a:ext>
            </a:extLst>
          </p:cNvPr>
          <p:cNvSpPr>
            <a:spLocks noGrp="1"/>
          </p:cNvSpPr>
          <p:nvPr>
            <p:ph type="title"/>
          </p:nvPr>
        </p:nvSpPr>
        <p:spPr/>
        <p:txBody>
          <a:bodyPr/>
          <a:lstStyle/>
          <a:p>
            <a:r>
              <a:rPr lang="en-IN" dirty="0"/>
              <a:t>Methodology Adopted</a:t>
            </a:r>
          </a:p>
        </p:txBody>
      </p:sp>
      <p:sp>
        <p:nvSpPr>
          <p:cNvPr id="3" name="Content Placeholder 2">
            <a:extLst>
              <a:ext uri="{FF2B5EF4-FFF2-40B4-BE49-F238E27FC236}">
                <a16:creationId xmlns:a16="http://schemas.microsoft.com/office/drawing/2014/main" id="{70DB3644-8466-AECE-2B7C-6F02FDB1AFA0}"/>
              </a:ext>
            </a:extLst>
          </p:cNvPr>
          <p:cNvSpPr>
            <a:spLocks noGrp="1"/>
          </p:cNvSpPr>
          <p:nvPr>
            <p:ph idx="1"/>
          </p:nvPr>
        </p:nvSpPr>
        <p:spPr/>
        <p:txBody>
          <a:bodyPr/>
          <a:lstStyle/>
          <a:p>
            <a:pPr marL="0" indent="0">
              <a:spcAft>
                <a:spcPts val="1200"/>
              </a:spcAft>
              <a:buNone/>
              <a:defRPr sz="2000"/>
            </a:pPr>
            <a:r>
              <a:rPr lang="en-IN" dirty="0"/>
              <a:t>1. Input Collection – URL or email/message content</a:t>
            </a:r>
          </a:p>
          <a:p>
            <a:pPr marL="0" indent="0">
              <a:spcAft>
                <a:spcPts val="1200"/>
              </a:spcAft>
              <a:buNone/>
              <a:defRPr sz="2000"/>
            </a:pPr>
            <a:r>
              <a:rPr lang="en-IN" dirty="0"/>
              <a:t>2. Feature Extraction – URL length, special characters, IP usage, HTTPS, suspicious keywords, etc.</a:t>
            </a:r>
          </a:p>
          <a:p>
            <a:pPr marL="0" indent="0">
              <a:spcAft>
                <a:spcPts val="1200"/>
              </a:spcAft>
              <a:buNone/>
              <a:defRPr sz="2000"/>
            </a:pPr>
            <a:r>
              <a:rPr lang="en-IN" dirty="0"/>
              <a:t>3. ML Detection – classify input as legitimate or potentially phishing</a:t>
            </a:r>
          </a:p>
          <a:p>
            <a:pPr marL="0" indent="0">
              <a:spcAft>
                <a:spcPts val="1200"/>
              </a:spcAft>
              <a:buNone/>
              <a:defRPr sz="2000"/>
            </a:pPr>
            <a:r>
              <a:rPr lang="en-IN" dirty="0"/>
              <a:t>4. Risk Assessment – generate risk score and level</a:t>
            </a:r>
          </a:p>
          <a:p>
            <a:pPr marL="0" indent="0">
              <a:spcAft>
                <a:spcPts val="1200"/>
              </a:spcAft>
              <a:buNone/>
              <a:defRPr sz="2000"/>
            </a:pPr>
            <a:r>
              <a:rPr lang="en-IN" dirty="0"/>
              <a:t>5. Response Decision – select an appropriate action</a:t>
            </a:r>
          </a:p>
          <a:p>
            <a:pPr marL="0" indent="0">
              <a:spcAft>
                <a:spcPts val="1200"/>
              </a:spcAft>
              <a:buNone/>
              <a:defRPr sz="2000"/>
            </a:pPr>
            <a:r>
              <a:rPr lang="en-IN" dirty="0"/>
              <a:t>6. Evaluation – accuracy, precision, recall, F1-score and confusion matrix</a:t>
            </a:r>
          </a:p>
          <a:p>
            <a:endParaRPr lang="en-IN" dirty="0"/>
          </a:p>
        </p:txBody>
      </p:sp>
    </p:spTree>
    <p:extLst>
      <p:ext uri="{BB962C8B-B14F-4D97-AF65-F5344CB8AC3E}">
        <p14:creationId xmlns:p14="http://schemas.microsoft.com/office/powerpoint/2010/main" val="1352577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BCA5A-F3BA-D18E-5031-E1FF43F38A1D}"/>
              </a:ext>
            </a:extLst>
          </p:cNvPr>
          <p:cNvSpPr>
            <a:spLocks noGrp="1"/>
          </p:cNvSpPr>
          <p:nvPr>
            <p:ph type="title"/>
          </p:nvPr>
        </p:nvSpPr>
        <p:spPr>
          <a:xfrm>
            <a:off x="838200" y="365126"/>
            <a:ext cx="10515600" cy="726256"/>
          </a:xfrm>
        </p:spPr>
        <p:txBody>
          <a:bodyPr>
            <a:normAutofit fontScale="90000"/>
          </a:bodyPr>
          <a:lstStyle/>
          <a:p>
            <a:r>
              <a:rPr lang="en-IN" dirty="0"/>
              <a:t> AI/ML Detection</a:t>
            </a:r>
            <a:br>
              <a:rPr lang="en-IN" dirty="0"/>
            </a:br>
            <a:endParaRPr lang="en-IN" dirty="0"/>
          </a:p>
        </p:txBody>
      </p:sp>
      <p:sp>
        <p:nvSpPr>
          <p:cNvPr id="3" name="Content Placeholder 2">
            <a:extLst>
              <a:ext uri="{FF2B5EF4-FFF2-40B4-BE49-F238E27FC236}">
                <a16:creationId xmlns:a16="http://schemas.microsoft.com/office/drawing/2014/main" id="{32B055E5-2F22-BCCF-80DD-11BAAE3B98DC}"/>
              </a:ext>
            </a:extLst>
          </p:cNvPr>
          <p:cNvSpPr>
            <a:spLocks noGrp="1"/>
          </p:cNvSpPr>
          <p:nvPr>
            <p:ph idx="1"/>
          </p:nvPr>
        </p:nvSpPr>
        <p:spPr>
          <a:xfrm>
            <a:off x="838200" y="884903"/>
            <a:ext cx="10515600" cy="5292060"/>
          </a:xfrm>
        </p:spPr>
        <p:txBody>
          <a:bodyPr>
            <a:normAutofit fontScale="70000" lnSpcReduction="20000"/>
          </a:bodyPr>
          <a:lstStyle/>
          <a:p>
            <a:pPr marL="0" indent="0">
              <a:spcAft>
                <a:spcPts val="1200"/>
              </a:spcAft>
              <a:buNone/>
              <a:defRPr sz="2000"/>
            </a:pPr>
            <a:r>
              <a:rPr lang="en-US" dirty="0"/>
              <a:t>Features are extracted from suspicious inputs and converted into numerical values.</a:t>
            </a:r>
          </a:p>
          <a:p>
            <a:pPr marL="0" indent="0">
              <a:spcAft>
                <a:spcPts val="1200"/>
              </a:spcAft>
              <a:buNone/>
              <a:defRPr sz="2000"/>
            </a:pPr>
            <a:r>
              <a:rPr lang="en-US" dirty="0"/>
              <a:t>A classification model such as Random Forest, Decision Tree, or Logistic Regression can be trained.</a:t>
            </a:r>
          </a:p>
          <a:p>
            <a:pPr marL="0" indent="0">
              <a:spcAft>
                <a:spcPts val="1200"/>
              </a:spcAft>
              <a:buNone/>
              <a:defRPr sz="2000"/>
            </a:pPr>
            <a:r>
              <a:rPr lang="en-US" dirty="0"/>
              <a:t>Example output: Phishing probability / prediction.</a:t>
            </a:r>
          </a:p>
          <a:p>
            <a:pPr marL="0" indent="0">
              <a:spcAft>
                <a:spcPts val="1200"/>
              </a:spcAft>
              <a:buNone/>
              <a:defRPr sz="2000"/>
            </a:pPr>
            <a:r>
              <a:rPr lang="en-US" dirty="0"/>
              <a:t>The final model and performance values should be based on the actual trained dataset.</a:t>
            </a:r>
          </a:p>
          <a:p>
            <a:pPr>
              <a:spcAft>
                <a:spcPts val="1200"/>
              </a:spcAft>
              <a:defRPr sz="2000"/>
            </a:pPr>
            <a:endParaRPr lang="en-US" dirty="0"/>
          </a:p>
          <a:p>
            <a:pPr marL="0" indent="0">
              <a:spcAft>
                <a:spcPts val="1200"/>
              </a:spcAft>
              <a:buNone/>
              <a:defRPr sz="2000"/>
            </a:pPr>
            <a:r>
              <a:rPr lang="en-US" b="1" dirty="0"/>
              <a:t> </a:t>
            </a:r>
            <a:r>
              <a:rPr lang="en-US" sz="4000" b="1" dirty="0"/>
              <a:t>Risk Analysis</a:t>
            </a:r>
          </a:p>
          <a:p>
            <a:pPr>
              <a:spcAft>
                <a:spcPts val="1200"/>
              </a:spcAft>
              <a:defRPr sz="2000"/>
            </a:pPr>
            <a:r>
              <a:rPr lang="en-US" dirty="0"/>
              <a:t>The risk service combines the detection result with security indicators.</a:t>
            </a:r>
          </a:p>
          <a:p>
            <a:pPr>
              <a:spcAft>
                <a:spcPts val="1200"/>
              </a:spcAft>
              <a:defRPr sz="2000"/>
            </a:pPr>
            <a:r>
              <a:rPr lang="en-US" dirty="0"/>
              <a:t>Example risk levels:</a:t>
            </a:r>
          </a:p>
          <a:p>
            <a:pPr>
              <a:spcAft>
                <a:spcPts val="1200"/>
              </a:spcAft>
              <a:defRPr sz="2000"/>
            </a:pPr>
            <a:r>
              <a:rPr lang="en-US" dirty="0"/>
              <a:t>• 0–30: Low</a:t>
            </a:r>
          </a:p>
          <a:p>
            <a:pPr>
              <a:spcAft>
                <a:spcPts val="1200"/>
              </a:spcAft>
              <a:defRPr sz="2000"/>
            </a:pPr>
            <a:r>
              <a:rPr lang="en-US" dirty="0"/>
              <a:t>• 31–60: Medium</a:t>
            </a:r>
          </a:p>
          <a:p>
            <a:pPr>
              <a:spcAft>
                <a:spcPts val="1200"/>
              </a:spcAft>
              <a:defRPr sz="2000"/>
            </a:pPr>
            <a:r>
              <a:rPr lang="en-US" dirty="0"/>
              <a:t>• 61–80: High</a:t>
            </a:r>
          </a:p>
          <a:p>
            <a:pPr>
              <a:spcAft>
                <a:spcPts val="1200"/>
              </a:spcAft>
              <a:defRPr sz="2000"/>
            </a:pPr>
            <a:r>
              <a:rPr lang="en-US" dirty="0"/>
              <a:t>• 81–100: Critical</a:t>
            </a:r>
          </a:p>
          <a:p>
            <a:endParaRPr lang="en-IN" dirty="0"/>
          </a:p>
        </p:txBody>
      </p:sp>
    </p:spTree>
    <p:extLst>
      <p:ext uri="{BB962C8B-B14F-4D97-AF65-F5344CB8AC3E}">
        <p14:creationId xmlns:p14="http://schemas.microsoft.com/office/powerpoint/2010/main" val="3318173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A27CF-5BFB-EFD3-9DFE-9D9539088470}"/>
              </a:ext>
            </a:extLst>
          </p:cNvPr>
          <p:cNvSpPr>
            <a:spLocks noGrp="1"/>
          </p:cNvSpPr>
          <p:nvPr>
            <p:ph type="title"/>
          </p:nvPr>
        </p:nvSpPr>
        <p:spPr/>
        <p:txBody>
          <a:bodyPr/>
          <a:lstStyle/>
          <a:p>
            <a:r>
              <a:rPr lang="en-IN" dirty="0"/>
              <a:t>Technical Soundness</a:t>
            </a:r>
          </a:p>
        </p:txBody>
      </p:sp>
      <p:sp>
        <p:nvSpPr>
          <p:cNvPr id="3" name="Content Placeholder 2">
            <a:extLst>
              <a:ext uri="{FF2B5EF4-FFF2-40B4-BE49-F238E27FC236}">
                <a16:creationId xmlns:a16="http://schemas.microsoft.com/office/drawing/2014/main" id="{D1BCFE25-2992-E19C-5433-D06F1E9F9620}"/>
              </a:ext>
            </a:extLst>
          </p:cNvPr>
          <p:cNvSpPr>
            <a:spLocks noGrp="1"/>
          </p:cNvSpPr>
          <p:nvPr>
            <p:ph idx="1"/>
          </p:nvPr>
        </p:nvSpPr>
        <p:spPr/>
        <p:txBody>
          <a:bodyPr/>
          <a:lstStyle/>
          <a:p>
            <a:pPr>
              <a:spcAft>
                <a:spcPts val="1200"/>
              </a:spcAft>
              <a:defRPr sz="2000"/>
            </a:pPr>
            <a:r>
              <a:rPr lang="en-IN" dirty="0"/>
              <a:t>Python – core development</a:t>
            </a:r>
          </a:p>
          <a:p>
            <a:pPr>
              <a:spcAft>
                <a:spcPts val="1200"/>
              </a:spcAft>
              <a:defRPr sz="2000"/>
            </a:pPr>
            <a:r>
              <a:rPr lang="en-IN" dirty="0"/>
              <a:t>Pandas / NumPy – data processing</a:t>
            </a:r>
          </a:p>
          <a:p>
            <a:pPr>
              <a:spcAft>
                <a:spcPts val="1200"/>
              </a:spcAft>
              <a:defRPr sz="2000"/>
            </a:pPr>
            <a:r>
              <a:rPr lang="en-IN" dirty="0"/>
              <a:t>Scikit-learn – machine learning</a:t>
            </a:r>
          </a:p>
          <a:p>
            <a:pPr>
              <a:spcAft>
                <a:spcPts val="1200"/>
              </a:spcAft>
              <a:defRPr sz="2000"/>
            </a:pPr>
            <a:r>
              <a:rPr lang="en-IN" dirty="0"/>
              <a:t>Flask / </a:t>
            </a:r>
            <a:r>
              <a:rPr lang="en-IN" dirty="0" err="1"/>
              <a:t>FastAPI</a:t>
            </a:r>
            <a:r>
              <a:rPr lang="en-IN" dirty="0"/>
              <a:t> – REST APIs</a:t>
            </a:r>
          </a:p>
          <a:p>
            <a:pPr>
              <a:spcAft>
                <a:spcPts val="1200"/>
              </a:spcAft>
              <a:defRPr sz="2000"/>
            </a:pPr>
            <a:r>
              <a:rPr lang="en-IN" dirty="0"/>
              <a:t>HTML / CSS / JavaScript – user interface</a:t>
            </a:r>
          </a:p>
          <a:p>
            <a:pPr>
              <a:spcAft>
                <a:spcPts val="1200"/>
              </a:spcAft>
              <a:defRPr sz="2000"/>
            </a:pPr>
            <a:r>
              <a:rPr lang="en-IN" dirty="0"/>
              <a:t>MongoDB / SQLite – optional data storage</a:t>
            </a:r>
          </a:p>
          <a:p>
            <a:pPr>
              <a:spcAft>
                <a:spcPts val="1200"/>
              </a:spcAft>
              <a:defRPr sz="2000"/>
            </a:pPr>
            <a:r>
              <a:rPr lang="en-IN" dirty="0"/>
              <a:t>Modular services make the system easier to test, maintain and extend.</a:t>
            </a:r>
          </a:p>
          <a:p>
            <a:endParaRPr lang="en-IN" dirty="0"/>
          </a:p>
        </p:txBody>
      </p:sp>
    </p:spTree>
    <p:extLst>
      <p:ext uri="{BB962C8B-B14F-4D97-AF65-F5344CB8AC3E}">
        <p14:creationId xmlns:p14="http://schemas.microsoft.com/office/powerpoint/2010/main" val="314198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5AF97-3A9A-BEBC-707F-BAE6EF3ED728}"/>
              </a:ext>
            </a:extLst>
          </p:cNvPr>
          <p:cNvSpPr>
            <a:spLocks noGrp="1"/>
          </p:cNvSpPr>
          <p:nvPr>
            <p:ph type="title"/>
          </p:nvPr>
        </p:nvSpPr>
        <p:spPr/>
        <p:txBody>
          <a:bodyPr/>
          <a:lstStyle/>
          <a:p>
            <a:r>
              <a:rPr lang="en-IN" dirty="0"/>
              <a:t>Sample Output</a:t>
            </a:r>
          </a:p>
        </p:txBody>
      </p:sp>
      <p:pic>
        <p:nvPicPr>
          <p:cNvPr id="5" name="Content Placeholder 4">
            <a:extLst>
              <a:ext uri="{FF2B5EF4-FFF2-40B4-BE49-F238E27FC236}">
                <a16:creationId xmlns:a16="http://schemas.microsoft.com/office/drawing/2014/main" id="{3D471A5F-6340-C5BE-F4F8-BB92C5384F42}"/>
              </a:ext>
            </a:extLst>
          </p:cNvPr>
          <p:cNvPicPr>
            <a:picLocks noGrp="1" noChangeAspect="1"/>
          </p:cNvPicPr>
          <p:nvPr>
            <p:ph idx="1"/>
          </p:nvPr>
        </p:nvPicPr>
        <p:blipFill>
          <a:blip r:embed="rId2"/>
          <a:stretch>
            <a:fillRect/>
          </a:stretch>
        </p:blipFill>
        <p:spPr>
          <a:xfrm>
            <a:off x="1038685" y="1690688"/>
            <a:ext cx="9819662" cy="4351338"/>
          </a:xfrm>
          <a:prstGeom prst="rect">
            <a:avLst/>
          </a:prstGeom>
        </p:spPr>
      </p:pic>
    </p:spTree>
    <p:extLst>
      <p:ext uri="{BB962C8B-B14F-4D97-AF65-F5344CB8AC3E}">
        <p14:creationId xmlns:p14="http://schemas.microsoft.com/office/powerpoint/2010/main" val="8645753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TotalTime>
  <Words>928</Words>
  <Application>Microsoft Office PowerPoint</Application>
  <PresentationFormat>Widescreen</PresentationFormat>
  <Paragraphs>118</Paragraphs>
  <Slides>14</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vt:i4>
      </vt:variant>
    </vt:vector>
  </HeadingPairs>
  <TitlesOfParts>
    <vt:vector size="22"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Design</vt:lpstr>
      <vt:lpstr> System Architecture </vt:lpstr>
      <vt:lpstr>Methodology Adopted</vt:lpstr>
      <vt:lpstr> AI/ML Detection </vt:lpstr>
      <vt:lpstr>Technical Soundness</vt:lpstr>
      <vt:lpstr>Sample Output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SREEHITHA POTLURU</cp:lastModifiedBy>
  <cp:revision>36</cp:revision>
  <dcterms:created xsi:type="dcterms:W3CDTF">2026-08-08T06:33:56Z</dcterms:created>
  <dcterms:modified xsi:type="dcterms:W3CDTF">2026-09-22T08:02:34Z</dcterms:modified>
</cp:coreProperties>
</file>